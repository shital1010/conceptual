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Nuni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Nuni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Nunito-bold.fntdata"/><Relationship Id="rId6" Type="http://schemas.openxmlformats.org/officeDocument/2006/relationships/slide" Target="slides/slide1.xml"/><Relationship Id="rId18" Type="http://schemas.openxmlformats.org/officeDocument/2006/relationships/font" Target="fonts/Nuni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740053c27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740053c2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740053c27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740053c27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740053c279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740053c279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740053c279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740053c27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740053c279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740053c279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740053c279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740053c279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740053c279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740053c279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740053c27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740053c27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740053c279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740053c279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740053c279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740053c279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740053c279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740053c279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slide" Target="/ppt/slides/slide9.xml"/><Relationship Id="rId4" Type="http://schemas.openxmlformats.org/officeDocument/2006/relationships/hyperlink" Target="https://www.ling.upenn.edu/courses/Fall_2003/ling001/penn_treebank_pos.html" TargetMode="External"/><Relationship Id="rId5" Type="http://schemas.openxmlformats.org/officeDocument/2006/relationships/hyperlink" Target="https://universaldependencies.org/u/po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realpython.com/regex-pytho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Syntactic Processing</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NLTK</a:t>
            </a:r>
            <a:endParaRPr b="1"/>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300"/>
              <a:t>NLTK, or the Natural Language Toolkit, is a powerful library in Python for working with human language data (text). It provides easy-to-use interfaces to over 50 corpora and lexical resources such as WordNet, along with a suite of text processing libraries for classification, tokenization, stemming, tagging, parsing, and semantic reasoning, wrappers for industrial-strength NLP libraries, and an active discussion forum.</a:t>
            </a:r>
            <a:endParaRPr sz="1300"/>
          </a:p>
        </p:txBody>
      </p:sp>
      <p:pic>
        <p:nvPicPr>
          <p:cNvPr id="62" name="Google Shape;62;p14"/>
          <p:cNvPicPr preferRelativeResize="0"/>
          <p:nvPr/>
        </p:nvPicPr>
        <p:blipFill>
          <a:blip r:embed="rId3">
            <a:alphaModFix/>
          </a:blip>
          <a:stretch>
            <a:fillRect/>
          </a:stretch>
        </p:blipFill>
        <p:spPr>
          <a:xfrm>
            <a:off x="4686325" y="2381150"/>
            <a:ext cx="3341201" cy="1879425"/>
          </a:xfrm>
          <a:prstGeom prst="rect">
            <a:avLst/>
          </a:prstGeom>
          <a:noFill/>
          <a:ln>
            <a:noFill/>
          </a:ln>
        </p:spPr>
      </p:pic>
      <p:pic>
        <p:nvPicPr>
          <p:cNvPr id="63" name="Google Shape;63;p14"/>
          <p:cNvPicPr preferRelativeResize="0"/>
          <p:nvPr/>
        </p:nvPicPr>
        <p:blipFill>
          <a:blip r:embed="rId4">
            <a:alphaModFix/>
          </a:blip>
          <a:stretch>
            <a:fillRect/>
          </a:stretch>
        </p:blipFill>
        <p:spPr>
          <a:xfrm>
            <a:off x="647700" y="2228850"/>
            <a:ext cx="3547166" cy="26603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idx="1" type="body"/>
          </p:nvPr>
        </p:nvSpPr>
        <p:spPr>
          <a:xfrm>
            <a:off x="112900" y="122575"/>
            <a:ext cx="8048700" cy="44463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b="1" lang="en"/>
              <a:t>Key Features:</a:t>
            </a:r>
            <a:r>
              <a:rPr lang="en"/>
              <a:t> </a:t>
            </a:r>
            <a:endParaRPr/>
          </a:p>
          <a:p>
            <a:pPr indent="0" lvl="0" marL="0" rtl="0" algn="l">
              <a:lnSpc>
                <a:spcPct val="105000"/>
              </a:lnSpc>
              <a:spcBef>
                <a:spcPts val="1200"/>
              </a:spcBef>
              <a:spcAft>
                <a:spcPts val="0"/>
              </a:spcAft>
              <a:buNone/>
            </a:pPr>
            <a:r>
              <a:rPr b="1" lang="en" sz="1100">
                <a:solidFill>
                  <a:schemeClr val="dk1"/>
                </a:solidFill>
              </a:rPr>
              <a:t>Corpora and Lexical Resources:</a:t>
            </a:r>
            <a:r>
              <a:rPr lang="en" sz="1100">
                <a:solidFill>
                  <a:schemeClr val="dk1"/>
                </a:solidFill>
              </a:rPr>
              <a:t> Access to various text corpora and lexical resources.</a:t>
            </a:r>
            <a:endParaRPr sz="1100">
              <a:solidFill>
                <a:schemeClr val="dk1"/>
              </a:solidFill>
            </a:endParaRPr>
          </a:p>
          <a:p>
            <a:pPr indent="0" lvl="0" marL="0" rtl="0" algn="l">
              <a:lnSpc>
                <a:spcPct val="105000"/>
              </a:lnSpc>
              <a:spcBef>
                <a:spcPts val="1200"/>
              </a:spcBef>
              <a:spcAft>
                <a:spcPts val="0"/>
              </a:spcAft>
              <a:buNone/>
            </a:pPr>
            <a:r>
              <a:rPr b="1" lang="en" sz="1050">
                <a:solidFill>
                  <a:srgbClr val="273239"/>
                </a:solidFill>
                <a:highlight>
                  <a:srgbClr val="FFFFFF"/>
                </a:highlight>
              </a:rPr>
              <a:t>Gutenberg</a:t>
            </a:r>
            <a:r>
              <a:rPr lang="en" sz="1050">
                <a:solidFill>
                  <a:srgbClr val="273239"/>
                </a:solidFill>
                <a:highlight>
                  <a:srgbClr val="FFFFFF"/>
                </a:highlight>
              </a:rPr>
              <a:t>: Contains text from classic literature.</a:t>
            </a:r>
            <a:endParaRPr sz="1050">
              <a:solidFill>
                <a:srgbClr val="273239"/>
              </a:solidFill>
              <a:highlight>
                <a:srgbClr val="FFFFFF"/>
              </a:highlight>
            </a:endParaRPr>
          </a:p>
          <a:p>
            <a:pPr indent="0" lvl="0" marL="0" rtl="0" algn="l">
              <a:lnSpc>
                <a:spcPct val="105000"/>
              </a:lnSpc>
              <a:spcBef>
                <a:spcPts val="1200"/>
              </a:spcBef>
              <a:spcAft>
                <a:spcPts val="0"/>
              </a:spcAft>
              <a:buNone/>
            </a:pPr>
            <a:r>
              <a:rPr b="1" lang="en" sz="1050">
                <a:solidFill>
                  <a:srgbClr val="273239"/>
                </a:solidFill>
                <a:highlight>
                  <a:srgbClr val="FFFFFF"/>
                </a:highlight>
              </a:rPr>
              <a:t>Brown</a:t>
            </a:r>
            <a:r>
              <a:rPr lang="en" sz="1050">
                <a:solidFill>
                  <a:srgbClr val="273239"/>
                </a:solidFill>
                <a:highlight>
                  <a:srgbClr val="FFFFFF"/>
                </a:highlight>
              </a:rPr>
              <a:t>: The first million-word electronic corpus of English.</a:t>
            </a:r>
            <a:endParaRPr sz="1050">
              <a:solidFill>
                <a:srgbClr val="273239"/>
              </a:solidFill>
              <a:highlight>
                <a:srgbClr val="FFFFFF"/>
              </a:highlight>
            </a:endParaRPr>
          </a:p>
          <a:p>
            <a:pPr indent="0" lvl="0" marL="0" rtl="0" algn="l">
              <a:lnSpc>
                <a:spcPct val="105000"/>
              </a:lnSpc>
              <a:spcBef>
                <a:spcPts val="1200"/>
              </a:spcBef>
              <a:spcAft>
                <a:spcPts val="0"/>
              </a:spcAft>
              <a:buNone/>
            </a:pPr>
            <a:r>
              <a:rPr b="1" lang="en" sz="1050">
                <a:solidFill>
                  <a:srgbClr val="273239"/>
                </a:solidFill>
                <a:highlight>
                  <a:srgbClr val="FFFFFF"/>
                </a:highlight>
              </a:rPr>
              <a:t>Reuters</a:t>
            </a:r>
            <a:r>
              <a:rPr lang="en" sz="1050">
                <a:solidFill>
                  <a:srgbClr val="273239"/>
                </a:solidFill>
                <a:highlight>
                  <a:srgbClr val="FFFFFF"/>
                </a:highlight>
              </a:rPr>
              <a:t>: A collection of news documents.</a:t>
            </a:r>
            <a:endParaRPr sz="1050">
              <a:solidFill>
                <a:srgbClr val="273239"/>
              </a:solidFill>
              <a:highlight>
                <a:srgbClr val="FFFFFF"/>
              </a:highlight>
            </a:endParaRPr>
          </a:p>
          <a:p>
            <a:pPr indent="0" lvl="0" marL="0" rtl="0" algn="l">
              <a:lnSpc>
                <a:spcPct val="105000"/>
              </a:lnSpc>
              <a:spcBef>
                <a:spcPts val="1200"/>
              </a:spcBef>
              <a:spcAft>
                <a:spcPts val="0"/>
              </a:spcAft>
              <a:buNone/>
            </a:pPr>
            <a:r>
              <a:rPr b="1" lang="en" sz="1050">
                <a:solidFill>
                  <a:srgbClr val="273239"/>
                </a:solidFill>
                <a:highlight>
                  <a:srgbClr val="FFFFFF"/>
                </a:highlight>
              </a:rPr>
              <a:t>Inaugural</a:t>
            </a:r>
            <a:r>
              <a:rPr lang="en" sz="1050">
                <a:solidFill>
                  <a:srgbClr val="273239"/>
                </a:solidFill>
                <a:highlight>
                  <a:srgbClr val="FFFFFF"/>
                </a:highlight>
              </a:rPr>
              <a:t>: Presidential inaugural speeches.</a:t>
            </a:r>
            <a:endParaRPr sz="800">
              <a:solidFill>
                <a:schemeClr val="dk1"/>
              </a:solidFill>
            </a:endParaRPr>
          </a:p>
          <a:p>
            <a:pPr indent="0" lvl="0" marL="0" rtl="0" algn="l">
              <a:lnSpc>
                <a:spcPct val="105000"/>
              </a:lnSpc>
              <a:spcBef>
                <a:spcPts val="1200"/>
              </a:spcBef>
              <a:spcAft>
                <a:spcPts val="0"/>
              </a:spcAft>
              <a:buNone/>
            </a:pPr>
            <a:r>
              <a:t/>
            </a:r>
            <a:endParaRPr b="1" sz="1100">
              <a:solidFill>
                <a:schemeClr val="dk1"/>
              </a:solidFill>
            </a:endParaRPr>
          </a:p>
          <a:p>
            <a:pPr indent="0" lvl="0" marL="0" rtl="0" algn="l">
              <a:lnSpc>
                <a:spcPct val="105000"/>
              </a:lnSpc>
              <a:spcBef>
                <a:spcPts val="1200"/>
              </a:spcBef>
              <a:spcAft>
                <a:spcPts val="0"/>
              </a:spcAft>
              <a:buClr>
                <a:schemeClr val="dk1"/>
              </a:buClr>
              <a:buSzPts val="1100"/>
              <a:buFont typeface="Arial"/>
              <a:buNone/>
            </a:pPr>
            <a:r>
              <a:rPr b="1" lang="en" sz="1100">
                <a:solidFill>
                  <a:schemeClr val="dk1"/>
                </a:solidFill>
              </a:rPr>
              <a:t>Text Processing Libraries:</a:t>
            </a:r>
            <a:r>
              <a:rPr lang="en" sz="1100">
                <a:solidFill>
                  <a:schemeClr val="dk1"/>
                </a:solidFill>
              </a:rPr>
              <a:t> Tools for classification, tokenization, stemming, tagging, parsing, and semantic reasoning.</a:t>
            </a:r>
            <a:endParaRPr sz="1100">
              <a:solidFill>
                <a:schemeClr val="dk1"/>
              </a:solidFill>
            </a:endParaRPr>
          </a:p>
          <a:p>
            <a:pPr indent="0" lvl="0" marL="0" rtl="0" algn="l">
              <a:lnSpc>
                <a:spcPct val="105000"/>
              </a:lnSpc>
              <a:spcBef>
                <a:spcPts val="1200"/>
              </a:spcBef>
              <a:spcAft>
                <a:spcPts val="0"/>
              </a:spcAft>
              <a:buClr>
                <a:schemeClr val="dk1"/>
              </a:buClr>
              <a:buSzPts val="1100"/>
              <a:buFont typeface="Arial"/>
              <a:buNone/>
            </a:pPr>
            <a:r>
              <a:rPr b="1" lang="en" sz="1100">
                <a:solidFill>
                  <a:schemeClr val="dk1"/>
                </a:solidFill>
              </a:rPr>
              <a:t>API for Industrial NLP Libraries:</a:t>
            </a:r>
            <a:r>
              <a:rPr lang="en" sz="1100">
                <a:solidFill>
                  <a:schemeClr val="dk1"/>
                </a:solidFill>
              </a:rPr>
              <a:t> Wrappers for industrial-strength NLP libraries.</a:t>
            </a:r>
            <a:endParaRPr sz="1100">
              <a:solidFill>
                <a:schemeClr val="dk1"/>
              </a:solidFill>
            </a:endParaRPr>
          </a:p>
          <a:p>
            <a:pPr indent="0" lvl="0" marL="0" rtl="0" algn="l">
              <a:lnSpc>
                <a:spcPct val="105000"/>
              </a:lnSpc>
              <a:spcBef>
                <a:spcPts val="1200"/>
              </a:spcBef>
              <a:spcAft>
                <a:spcPts val="0"/>
              </a:spcAft>
              <a:buNone/>
            </a:pPr>
            <a:r>
              <a:rPr b="1" lang="en" sz="1100">
                <a:solidFill>
                  <a:schemeClr val="dk1"/>
                </a:solidFill>
              </a:rPr>
              <a:t>Educational Tools:</a:t>
            </a:r>
            <a:r>
              <a:rPr lang="en" sz="1100">
                <a:solidFill>
                  <a:schemeClr val="dk1"/>
                </a:solidFill>
              </a:rPr>
              <a:t> Extensive documentation and tutorials for learning and teaching computational linguistics and natural language processing.</a:t>
            </a:r>
            <a:endParaRPr sz="1100">
              <a:solidFill>
                <a:schemeClr val="dk1"/>
              </a:solidFill>
            </a:endParaRPr>
          </a:p>
          <a:p>
            <a:pPr indent="0" lvl="0" marL="0" rtl="0" algn="l">
              <a:lnSpc>
                <a:spcPct val="105000"/>
              </a:lnSpc>
              <a:spcBef>
                <a:spcPts val="1200"/>
              </a:spcBef>
              <a:spcAft>
                <a:spcPts val="0"/>
              </a:spcAft>
              <a:buNone/>
            </a:pPr>
            <a:r>
              <a:t/>
            </a:r>
            <a:endParaRPr sz="1300"/>
          </a:p>
          <a:p>
            <a:pPr indent="0" lvl="0" marL="0" rtl="0" algn="l">
              <a:lnSpc>
                <a:spcPct val="105000"/>
              </a:lnSpc>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Corpus</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 corpus (plural: corpora) is a large and structured set of texts (now usually electronically stored and processed) used for linguistic research and language technology development. Corpora are essential for various NLP tasks as they provide the raw data needed for analysis, training models, and evaluating algorithms.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Tokenization</a:t>
            </a:r>
            <a:endParaRPr/>
          </a:p>
        </p:txBody>
      </p:sp>
      <p:sp>
        <p:nvSpPr>
          <p:cNvPr id="80" name="Google Shape;80;p17"/>
          <p:cNvSpPr txBox="1"/>
          <p:nvPr>
            <p:ph idx="1" type="body"/>
          </p:nvPr>
        </p:nvSpPr>
        <p:spPr>
          <a:xfrm>
            <a:off x="0" y="576300"/>
            <a:ext cx="8832300" cy="39909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688"/>
              <a:buNone/>
            </a:pPr>
            <a:r>
              <a:rPr lang="en" sz="1144">
                <a:solidFill>
                  <a:srgbClr val="273239"/>
                </a:solidFill>
                <a:highlight>
                  <a:srgbClr val="FFFFFF"/>
                </a:highlight>
                <a:latin typeface="Nunito"/>
                <a:ea typeface="Nunito"/>
                <a:cs typeface="Nunito"/>
                <a:sym typeface="Nunito"/>
              </a:rPr>
              <a:t>Tokenization refers to break down the text into smaller units. It entails splitting paragraphs into sentences and sentences into words. It is one of the initial steps of any NLP pipeline.</a:t>
            </a:r>
            <a:endParaRPr sz="1144">
              <a:solidFill>
                <a:srgbClr val="273239"/>
              </a:solidFill>
              <a:highlight>
                <a:srgbClr val="FFFFFF"/>
              </a:highlight>
              <a:latin typeface="Nunito"/>
              <a:ea typeface="Nunito"/>
              <a:cs typeface="Nunito"/>
              <a:sym typeface="Nunito"/>
            </a:endParaRPr>
          </a:p>
          <a:p>
            <a:pPr indent="0" lvl="0" marL="0" rtl="0" algn="l">
              <a:lnSpc>
                <a:spcPct val="105000"/>
              </a:lnSpc>
              <a:spcBef>
                <a:spcPts val="1800"/>
              </a:spcBef>
              <a:spcAft>
                <a:spcPts val="0"/>
              </a:spcAft>
              <a:buSzPts val="688"/>
              <a:buNone/>
            </a:pPr>
            <a:r>
              <a:rPr b="1" lang="en" sz="1175">
                <a:solidFill>
                  <a:srgbClr val="273239"/>
                </a:solidFill>
                <a:highlight>
                  <a:srgbClr val="FFFFFF"/>
                </a:highlight>
                <a:latin typeface="Nunito"/>
                <a:ea typeface="Nunito"/>
                <a:cs typeface="Nunito"/>
                <a:sym typeface="Nunito"/>
              </a:rPr>
              <a:t>Work Tokenization</a:t>
            </a:r>
            <a:endParaRPr b="1" sz="1175">
              <a:solidFill>
                <a:srgbClr val="273239"/>
              </a:solidFill>
              <a:highlight>
                <a:srgbClr val="FFFFFF"/>
              </a:highlight>
              <a:latin typeface="Nunito"/>
              <a:ea typeface="Nunito"/>
              <a:cs typeface="Nunito"/>
              <a:sym typeface="Nunito"/>
            </a:endParaRPr>
          </a:p>
          <a:p>
            <a:pPr indent="0" lvl="0" marL="0" rtl="0" algn="l">
              <a:lnSpc>
                <a:spcPct val="105000"/>
              </a:lnSpc>
              <a:spcBef>
                <a:spcPts val="1800"/>
              </a:spcBef>
              <a:spcAft>
                <a:spcPts val="0"/>
              </a:spcAft>
              <a:buClr>
                <a:schemeClr val="dk1"/>
              </a:buClr>
              <a:buSzPts val="688"/>
              <a:buFont typeface="Arial"/>
              <a:buNone/>
            </a:pPr>
            <a:r>
              <a:rPr lang="en" sz="1144">
                <a:solidFill>
                  <a:srgbClr val="273239"/>
                </a:solidFill>
                <a:highlight>
                  <a:srgbClr val="FFFFFF"/>
                </a:highlight>
                <a:latin typeface="Nunito"/>
                <a:ea typeface="Nunito"/>
                <a:cs typeface="Nunito"/>
                <a:sym typeface="Nunito"/>
              </a:rPr>
              <a:t>It involves breaking down the text into words.</a:t>
            </a:r>
            <a:endParaRPr sz="1144">
              <a:solidFill>
                <a:srgbClr val="273239"/>
              </a:solidFill>
              <a:highlight>
                <a:srgbClr val="FFFFFF"/>
              </a:highlight>
              <a:latin typeface="Nunito"/>
              <a:ea typeface="Nunito"/>
              <a:cs typeface="Nunito"/>
              <a:sym typeface="Nunito"/>
            </a:endParaRPr>
          </a:p>
          <a:p>
            <a:pPr indent="0" lvl="0" marL="190500" marR="190500" rtl="0" algn="l">
              <a:lnSpc>
                <a:spcPct val="105000"/>
              </a:lnSpc>
              <a:spcBef>
                <a:spcPts val="1800"/>
              </a:spcBef>
              <a:spcAft>
                <a:spcPts val="0"/>
              </a:spcAft>
              <a:buClr>
                <a:schemeClr val="dk1"/>
              </a:buClr>
              <a:buSzPts val="688"/>
              <a:buFont typeface="Arial"/>
              <a:buNone/>
            </a:pPr>
            <a:r>
              <a:rPr lang="en" sz="1050">
                <a:solidFill>
                  <a:schemeClr val="dk1"/>
                </a:solidFill>
                <a:highlight>
                  <a:srgbClr val="E0E0E0"/>
                </a:highlight>
                <a:latin typeface="Courier New"/>
                <a:ea typeface="Courier New"/>
                <a:cs typeface="Courier New"/>
                <a:sym typeface="Courier New"/>
              </a:rPr>
              <a:t>"I study Machine Learning on GeeksforGeeks." will be word-tokenized as</a:t>
            </a:r>
            <a:endParaRPr sz="1050">
              <a:solidFill>
                <a:schemeClr val="dk1"/>
              </a:solidFill>
              <a:highlight>
                <a:srgbClr val="E0E0E0"/>
              </a:highlight>
              <a:latin typeface="Courier New"/>
              <a:ea typeface="Courier New"/>
              <a:cs typeface="Courier New"/>
              <a:sym typeface="Courier New"/>
            </a:endParaRPr>
          </a:p>
          <a:p>
            <a:pPr indent="0" lvl="0" marL="190500" marR="190500" rtl="0" algn="l">
              <a:lnSpc>
                <a:spcPct val="105000"/>
              </a:lnSpc>
              <a:spcBef>
                <a:spcPts val="800"/>
              </a:spcBef>
              <a:spcAft>
                <a:spcPts val="0"/>
              </a:spcAft>
              <a:buSzPts val="688"/>
              <a:buNone/>
            </a:pPr>
            <a:r>
              <a:rPr lang="en" sz="1050">
                <a:solidFill>
                  <a:schemeClr val="dk1"/>
                </a:solidFill>
                <a:highlight>
                  <a:srgbClr val="E0E0E0"/>
                </a:highlight>
                <a:latin typeface="Courier New"/>
                <a:ea typeface="Courier New"/>
                <a:cs typeface="Courier New"/>
                <a:sym typeface="Courier New"/>
              </a:rPr>
              <a:t> ['I', 'study', 'Machine', 'Learning', 'on', 'GeeksforGeeks', '.'].</a:t>
            </a:r>
            <a:endParaRPr sz="1050">
              <a:solidFill>
                <a:schemeClr val="dk1"/>
              </a:solidFill>
              <a:highlight>
                <a:srgbClr val="E0E0E0"/>
              </a:highlight>
              <a:latin typeface="Courier New"/>
              <a:ea typeface="Courier New"/>
              <a:cs typeface="Courier New"/>
              <a:sym typeface="Courier New"/>
            </a:endParaRPr>
          </a:p>
          <a:p>
            <a:pPr indent="0" lvl="0" marL="190500" marR="190500" rtl="0" algn="l">
              <a:lnSpc>
                <a:spcPct val="105000"/>
              </a:lnSpc>
              <a:spcBef>
                <a:spcPts val="800"/>
              </a:spcBef>
              <a:spcAft>
                <a:spcPts val="0"/>
              </a:spcAft>
              <a:buSzPts val="688"/>
              <a:buNone/>
            </a:pPr>
            <a:r>
              <a:t/>
            </a:r>
            <a:endParaRPr sz="1050">
              <a:solidFill>
                <a:schemeClr val="dk1"/>
              </a:solidFill>
              <a:highlight>
                <a:srgbClr val="E0E0E0"/>
              </a:highlight>
              <a:latin typeface="Courier New"/>
              <a:ea typeface="Courier New"/>
              <a:cs typeface="Courier New"/>
              <a:sym typeface="Courier New"/>
            </a:endParaRPr>
          </a:p>
          <a:p>
            <a:pPr indent="0" lvl="0" marL="0" rtl="0" algn="l">
              <a:lnSpc>
                <a:spcPct val="105000"/>
              </a:lnSpc>
              <a:spcBef>
                <a:spcPts val="1800"/>
              </a:spcBef>
              <a:spcAft>
                <a:spcPts val="0"/>
              </a:spcAft>
              <a:buSzPts val="688"/>
              <a:buNone/>
            </a:pPr>
            <a:r>
              <a:rPr b="1" lang="en" sz="1175">
                <a:solidFill>
                  <a:srgbClr val="273239"/>
                </a:solidFill>
                <a:highlight>
                  <a:srgbClr val="FFFFFF"/>
                </a:highlight>
                <a:latin typeface="Nunito"/>
                <a:ea typeface="Nunito"/>
                <a:cs typeface="Nunito"/>
                <a:sym typeface="Nunito"/>
              </a:rPr>
              <a:t>Sentence Tokenization</a:t>
            </a:r>
            <a:endParaRPr b="1" sz="1175">
              <a:solidFill>
                <a:srgbClr val="273239"/>
              </a:solidFill>
              <a:highlight>
                <a:srgbClr val="FFFFFF"/>
              </a:highlight>
              <a:latin typeface="Nunito"/>
              <a:ea typeface="Nunito"/>
              <a:cs typeface="Nunito"/>
              <a:sym typeface="Nunito"/>
            </a:endParaRPr>
          </a:p>
          <a:p>
            <a:pPr indent="0" lvl="0" marL="0" rtl="0" algn="l">
              <a:lnSpc>
                <a:spcPct val="105000"/>
              </a:lnSpc>
              <a:spcBef>
                <a:spcPts val="1800"/>
              </a:spcBef>
              <a:spcAft>
                <a:spcPts val="0"/>
              </a:spcAft>
              <a:buSzPts val="688"/>
              <a:buNone/>
            </a:pPr>
            <a:r>
              <a:rPr lang="en" sz="1144">
                <a:solidFill>
                  <a:srgbClr val="273239"/>
                </a:solidFill>
                <a:highlight>
                  <a:srgbClr val="FFFFFF"/>
                </a:highlight>
                <a:latin typeface="Nunito"/>
                <a:ea typeface="Nunito"/>
                <a:cs typeface="Nunito"/>
                <a:sym typeface="Nunito"/>
              </a:rPr>
              <a:t>It involves breaking down the text into individual sentences. </a:t>
            </a:r>
            <a:endParaRPr sz="1144">
              <a:solidFill>
                <a:srgbClr val="273239"/>
              </a:solidFill>
              <a:highlight>
                <a:srgbClr val="FFFFFF"/>
              </a:highlight>
              <a:latin typeface="Nunito"/>
              <a:ea typeface="Nunito"/>
              <a:cs typeface="Nunito"/>
              <a:sym typeface="Nunito"/>
            </a:endParaRPr>
          </a:p>
          <a:p>
            <a:pPr indent="0" lvl="0" marL="190500" marR="190500" rtl="0" algn="l">
              <a:lnSpc>
                <a:spcPct val="105000"/>
              </a:lnSpc>
              <a:spcBef>
                <a:spcPts val="800"/>
              </a:spcBef>
              <a:spcAft>
                <a:spcPts val="0"/>
              </a:spcAft>
              <a:buSzPts val="688"/>
              <a:buNone/>
            </a:pPr>
            <a:r>
              <a:rPr b="1" lang="en" sz="1050">
                <a:solidFill>
                  <a:schemeClr val="dk1"/>
                </a:solidFill>
                <a:highlight>
                  <a:srgbClr val="E0E0E0"/>
                </a:highlight>
                <a:latin typeface="Courier New"/>
                <a:ea typeface="Courier New"/>
                <a:cs typeface="Courier New"/>
                <a:sym typeface="Courier New"/>
              </a:rPr>
              <a:t>Example:</a:t>
            </a:r>
            <a:endParaRPr b="1" sz="1050">
              <a:solidFill>
                <a:schemeClr val="dk1"/>
              </a:solidFill>
              <a:highlight>
                <a:srgbClr val="E0E0E0"/>
              </a:highlight>
              <a:latin typeface="Courier New"/>
              <a:ea typeface="Courier New"/>
              <a:cs typeface="Courier New"/>
              <a:sym typeface="Courier New"/>
            </a:endParaRPr>
          </a:p>
          <a:p>
            <a:pPr indent="0" lvl="0" marL="190500" marR="190500" rtl="0" algn="l">
              <a:lnSpc>
                <a:spcPct val="105000"/>
              </a:lnSpc>
              <a:spcBef>
                <a:spcPts val="800"/>
              </a:spcBef>
              <a:spcAft>
                <a:spcPts val="0"/>
              </a:spcAft>
              <a:buSzPts val="688"/>
              <a:buNone/>
            </a:pPr>
            <a:r>
              <a:rPr lang="en" sz="1050">
                <a:solidFill>
                  <a:schemeClr val="dk1"/>
                </a:solidFill>
                <a:highlight>
                  <a:srgbClr val="E0E0E0"/>
                </a:highlight>
                <a:latin typeface="Courier New"/>
                <a:ea typeface="Courier New"/>
                <a:cs typeface="Courier New"/>
                <a:sym typeface="Courier New"/>
              </a:rPr>
              <a:t>"I study Machine Learning on GeeksforGeeks. Currently, I'm studying NLP"</a:t>
            </a:r>
            <a:endParaRPr sz="1050">
              <a:solidFill>
                <a:schemeClr val="dk1"/>
              </a:solidFill>
              <a:highlight>
                <a:srgbClr val="E0E0E0"/>
              </a:highlight>
              <a:latin typeface="Courier New"/>
              <a:ea typeface="Courier New"/>
              <a:cs typeface="Courier New"/>
              <a:sym typeface="Courier New"/>
            </a:endParaRPr>
          </a:p>
          <a:p>
            <a:pPr indent="0" lvl="0" marL="190500" marR="190500" rtl="0" algn="l">
              <a:lnSpc>
                <a:spcPct val="105000"/>
              </a:lnSpc>
              <a:spcBef>
                <a:spcPts val="800"/>
              </a:spcBef>
              <a:spcAft>
                <a:spcPts val="0"/>
              </a:spcAft>
              <a:buSzPts val="688"/>
              <a:buNone/>
            </a:pPr>
            <a:r>
              <a:rPr lang="en" sz="1050">
                <a:solidFill>
                  <a:schemeClr val="dk1"/>
                </a:solidFill>
                <a:highlight>
                  <a:srgbClr val="E0E0E0"/>
                </a:highlight>
                <a:latin typeface="Courier New"/>
                <a:ea typeface="Courier New"/>
                <a:cs typeface="Courier New"/>
                <a:sym typeface="Courier New"/>
              </a:rPr>
              <a:t>will be sentence-tokenized as</a:t>
            </a:r>
            <a:endParaRPr sz="1050">
              <a:solidFill>
                <a:schemeClr val="dk1"/>
              </a:solidFill>
              <a:highlight>
                <a:srgbClr val="E0E0E0"/>
              </a:highlight>
              <a:latin typeface="Courier New"/>
              <a:ea typeface="Courier New"/>
              <a:cs typeface="Courier New"/>
              <a:sym typeface="Courier New"/>
            </a:endParaRPr>
          </a:p>
          <a:p>
            <a:pPr indent="0" lvl="0" marL="190500" marR="190500" rtl="0" algn="l">
              <a:lnSpc>
                <a:spcPct val="105000"/>
              </a:lnSpc>
              <a:spcBef>
                <a:spcPts val="800"/>
              </a:spcBef>
              <a:spcAft>
                <a:spcPts val="0"/>
              </a:spcAft>
              <a:buSzPts val="688"/>
              <a:buNone/>
            </a:pPr>
            <a:r>
              <a:rPr lang="en" sz="1050">
                <a:solidFill>
                  <a:schemeClr val="dk1"/>
                </a:solidFill>
                <a:highlight>
                  <a:srgbClr val="E0E0E0"/>
                </a:highlight>
                <a:latin typeface="Courier New"/>
                <a:ea typeface="Courier New"/>
                <a:cs typeface="Courier New"/>
                <a:sym typeface="Courier New"/>
              </a:rPr>
              <a:t>['I study Machine Learning on GeeksforGeeks.', 'Currently, I'm studying NLP.']</a:t>
            </a:r>
            <a:endParaRPr sz="1050">
              <a:solidFill>
                <a:schemeClr val="dk1"/>
              </a:solidFill>
              <a:highlight>
                <a:srgbClr val="E0E0E0"/>
              </a:highlight>
              <a:latin typeface="Courier New"/>
              <a:ea typeface="Courier New"/>
              <a:cs typeface="Courier New"/>
              <a:sym typeface="Courier New"/>
            </a:endParaRPr>
          </a:p>
          <a:p>
            <a:pPr indent="0" lvl="0" marL="190500" marR="190500" rtl="0" algn="l">
              <a:lnSpc>
                <a:spcPct val="105000"/>
              </a:lnSpc>
              <a:spcBef>
                <a:spcPts val="800"/>
              </a:spcBef>
              <a:spcAft>
                <a:spcPts val="0"/>
              </a:spcAft>
              <a:buClr>
                <a:schemeClr val="dk1"/>
              </a:buClr>
              <a:buSzPts val="688"/>
              <a:buFont typeface="Arial"/>
              <a:buNone/>
            </a:pPr>
            <a:r>
              <a:t/>
            </a:r>
            <a:endParaRPr sz="1050">
              <a:solidFill>
                <a:schemeClr val="dk1"/>
              </a:solidFill>
              <a:highlight>
                <a:srgbClr val="E0E0E0"/>
              </a:highlight>
              <a:latin typeface="Courier New"/>
              <a:ea typeface="Courier New"/>
              <a:cs typeface="Courier New"/>
              <a:sym typeface="Courier New"/>
            </a:endParaRPr>
          </a:p>
          <a:p>
            <a:pPr indent="0" lvl="0" marL="0" rtl="0" algn="l">
              <a:lnSpc>
                <a:spcPct val="105000"/>
              </a:lnSpc>
              <a:spcBef>
                <a:spcPts val="800"/>
              </a:spcBef>
              <a:spcAft>
                <a:spcPts val="1200"/>
              </a:spcAft>
              <a:buSzPts val="688"/>
              <a:buNone/>
            </a:pPr>
            <a:r>
              <a:t/>
            </a:r>
            <a:endParaRPr sz="1144">
              <a:solidFill>
                <a:srgbClr val="273239"/>
              </a:solidFill>
              <a:highlight>
                <a:srgbClr val="FFFFFF"/>
              </a:highlight>
              <a:latin typeface="Nunito"/>
              <a:ea typeface="Nunito"/>
              <a:cs typeface="Nunito"/>
              <a:sym typeface="Nunito"/>
            </a:endParaRPr>
          </a:p>
        </p:txBody>
      </p:sp>
      <p:pic>
        <p:nvPicPr>
          <p:cNvPr id="81" name="Google Shape;81;p17"/>
          <p:cNvPicPr preferRelativeResize="0"/>
          <p:nvPr/>
        </p:nvPicPr>
        <p:blipFill>
          <a:blip r:embed="rId3">
            <a:alphaModFix/>
          </a:blip>
          <a:stretch>
            <a:fillRect/>
          </a:stretch>
        </p:blipFill>
        <p:spPr>
          <a:xfrm>
            <a:off x="6105513" y="1066800"/>
            <a:ext cx="3038475" cy="1504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Stemming and Lemmatization</a:t>
            </a:r>
            <a:endParaRPr/>
          </a:p>
        </p:txBody>
      </p:sp>
      <p:sp>
        <p:nvSpPr>
          <p:cNvPr id="87" name="Google Shape;87;p18"/>
          <p:cNvSpPr txBox="1"/>
          <p:nvPr>
            <p:ph idx="1" type="body"/>
          </p:nvPr>
        </p:nvSpPr>
        <p:spPr>
          <a:xfrm>
            <a:off x="0" y="572700"/>
            <a:ext cx="8832300" cy="3996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350">
                <a:solidFill>
                  <a:srgbClr val="273239"/>
                </a:solidFill>
                <a:highlight>
                  <a:srgbClr val="FFFFFF"/>
                </a:highlight>
                <a:latin typeface="Nunito"/>
                <a:ea typeface="Nunito"/>
                <a:cs typeface="Nunito"/>
                <a:sym typeface="Nunito"/>
              </a:rPr>
              <a:t>When working with Natural Language, we are not much interested in the form of words – rather, we are concerned with the meaning that the words intend to convey. Thus, we try to map every word of the language to its root/base form. This process is called canonicalization. </a:t>
            </a:r>
            <a:endParaRPr sz="1350">
              <a:solidFill>
                <a:srgbClr val="273239"/>
              </a:solidFill>
              <a:highlight>
                <a:srgbClr val="FFFFFF"/>
              </a:highlight>
              <a:latin typeface="Nunito"/>
              <a:ea typeface="Nunito"/>
              <a:cs typeface="Nunito"/>
              <a:sym typeface="Nunito"/>
            </a:endParaRPr>
          </a:p>
          <a:p>
            <a:pPr indent="0" lvl="0" marL="0" rtl="0" algn="l">
              <a:spcBef>
                <a:spcPts val="800"/>
              </a:spcBef>
              <a:spcAft>
                <a:spcPts val="0"/>
              </a:spcAft>
              <a:buNone/>
            </a:pPr>
            <a:r>
              <a:rPr lang="en" sz="1350">
                <a:solidFill>
                  <a:srgbClr val="273239"/>
                </a:solidFill>
                <a:highlight>
                  <a:srgbClr val="FFFFFF"/>
                </a:highlight>
                <a:latin typeface="Nunito"/>
                <a:ea typeface="Nunito"/>
                <a:cs typeface="Nunito"/>
                <a:sym typeface="Nunito"/>
              </a:rPr>
              <a:t>Stemming generates the base word from the inflected word by removing the affixes of the word. It has a set of pre-defined rules that govern the dropping of these affixes. It must be noted that stemmers might not always result in semantically meaningful base words.  Stemmers are faster and computationally less expensive than lemmatizers. </a:t>
            </a:r>
            <a:endParaRPr sz="1350">
              <a:solidFill>
                <a:srgbClr val="273239"/>
              </a:solidFill>
              <a:highlight>
                <a:srgbClr val="FFFFFF"/>
              </a:highlight>
              <a:latin typeface="Nunito"/>
              <a:ea typeface="Nunito"/>
              <a:cs typeface="Nunito"/>
              <a:sym typeface="Nunito"/>
            </a:endParaRPr>
          </a:p>
          <a:p>
            <a:pPr indent="0" lvl="0" marL="0" rtl="0" algn="l">
              <a:spcBef>
                <a:spcPts val="1200"/>
              </a:spcBef>
              <a:spcAft>
                <a:spcPts val="1200"/>
              </a:spcAft>
              <a:buNone/>
            </a:pPr>
            <a:r>
              <a:t/>
            </a:r>
            <a:endParaRPr sz="1350">
              <a:solidFill>
                <a:srgbClr val="273239"/>
              </a:solidFill>
              <a:highlight>
                <a:srgbClr val="FFFFFF"/>
              </a:highlight>
              <a:latin typeface="Nunito"/>
              <a:ea typeface="Nunito"/>
              <a:cs typeface="Nunito"/>
              <a:sym typeface="Nunito"/>
            </a:endParaRPr>
          </a:p>
        </p:txBody>
      </p:sp>
      <p:pic>
        <p:nvPicPr>
          <p:cNvPr id="88" name="Google Shape;88;p18"/>
          <p:cNvPicPr preferRelativeResize="0"/>
          <p:nvPr/>
        </p:nvPicPr>
        <p:blipFill>
          <a:blip r:embed="rId3">
            <a:alphaModFix/>
          </a:blip>
          <a:stretch>
            <a:fillRect/>
          </a:stretch>
        </p:blipFill>
        <p:spPr>
          <a:xfrm>
            <a:off x="328000" y="2404275"/>
            <a:ext cx="3826550" cy="2164725"/>
          </a:xfrm>
          <a:prstGeom prst="rect">
            <a:avLst/>
          </a:prstGeom>
          <a:noFill/>
          <a:ln>
            <a:noFill/>
          </a:ln>
        </p:spPr>
      </p:pic>
      <p:pic>
        <p:nvPicPr>
          <p:cNvPr id="89" name="Google Shape;89;p18"/>
          <p:cNvPicPr preferRelativeResize="0"/>
          <p:nvPr/>
        </p:nvPicPr>
        <p:blipFill>
          <a:blip r:embed="rId4">
            <a:alphaModFix/>
          </a:blip>
          <a:stretch>
            <a:fillRect/>
          </a:stretch>
        </p:blipFill>
        <p:spPr>
          <a:xfrm>
            <a:off x="4572000" y="2404275"/>
            <a:ext cx="3826550" cy="2623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Lemmatization</a:t>
            </a:r>
            <a:endParaRPr/>
          </a:p>
        </p:txBody>
      </p:sp>
      <p:sp>
        <p:nvSpPr>
          <p:cNvPr id="95" name="Google Shape;95;p19"/>
          <p:cNvSpPr txBox="1"/>
          <p:nvPr>
            <p:ph idx="1" type="body"/>
          </p:nvPr>
        </p:nvSpPr>
        <p:spPr>
          <a:xfrm>
            <a:off x="0" y="572700"/>
            <a:ext cx="9144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650">
                <a:solidFill>
                  <a:schemeClr val="dk1"/>
                </a:solidFill>
                <a:highlight>
                  <a:srgbClr val="FFFFFF"/>
                </a:highlight>
              </a:rPr>
              <a:t>Lemmatization is a more sophisticated technique than stemming in the sense that it doesn’t just chop off the suffix of a word. Instead, it takes an input word and searches for its root word by going recursively through all the variations of dictionary words. The base word, in this case, is called the </a:t>
            </a:r>
            <a:r>
              <a:rPr b="1" lang="en" sz="1650">
                <a:solidFill>
                  <a:schemeClr val="dk1"/>
                </a:solidFill>
                <a:highlight>
                  <a:srgbClr val="FFFFFF"/>
                </a:highlight>
              </a:rPr>
              <a:t>lemma</a:t>
            </a:r>
            <a:r>
              <a:rPr lang="en" sz="1650">
                <a:solidFill>
                  <a:schemeClr val="dk1"/>
                </a:solidFill>
                <a:highlight>
                  <a:srgbClr val="FFFFFF"/>
                </a:highlight>
              </a:rPr>
              <a:t>.</a:t>
            </a:r>
            <a:endParaRPr sz="1650">
              <a:solidFill>
                <a:schemeClr val="dk1"/>
              </a:solidFill>
              <a:highlight>
                <a:srgbClr val="FFFFFF"/>
              </a:highlight>
            </a:endParaRPr>
          </a:p>
          <a:p>
            <a:pPr indent="0" lvl="0" marL="0" rtl="0" algn="l">
              <a:spcBef>
                <a:spcPts val="2500"/>
              </a:spcBef>
              <a:spcAft>
                <a:spcPts val="0"/>
              </a:spcAft>
              <a:buClr>
                <a:schemeClr val="dk1"/>
              </a:buClr>
              <a:buSzPts val="1100"/>
              <a:buFont typeface="Arial"/>
              <a:buNone/>
            </a:pPr>
            <a:r>
              <a:rPr lang="en" sz="1650">
                <a:solidFill>
                  <a:schemeClr val="dk1"/>
                </a:solidFill>
                <a:highlight>
                  <a:srgbClr val="FFFFFF"/>
                </a:highlight>
              </a:rPr>
              <a:t>Words such as ‘feet’, ‘drove’, ‘arose’, ‘bought’, etc. can’t be reduced to their accurate base form using a lemmatizer. The most popular lemmatizer is the </a:t>
            </a:r>
            <a:r>
              <a:rPr b="1" lang="en" sz="1650">
                <a:solidFill>
                  <a:schemeClr val="dk1"/>
                </a:solidFill>
                <a:highlight>
                  <a:srgbClr val="FFFFFF"/>
                </a:highlight>
              </a:rPr>
              <a:t>WordNet lemmatizer</a:t>
            </a:r>
            <a:r>
              <a:rPr lang="en" sz="1650">
                <a:solidFill>
                  <a:schemeClr val="dk1"/>
                </a:solidFill>
                <a:highlight>
                  <a:srgbClr val="FFFFFF"/>
                </a:highlight>
              </a:rPr>
              <a:t> created by a team of researchers at the </a:t>
            </a:r>
            <a:r>
              <a:rPr b="1" lang="en" sz="1650">
                <a:solidFill>
                  <a:schemeClr val="dk1"/>
                </a:solidFill>
                <a:highlight>
                  <a:srgbClr val="FFFFFF"/>
                </a:highlight>
              </a:rPr>
              <a:t>Princeton university</a:t>
            </a:r>
            <a:r>
              <a:rPr lang="en" sz="1650">
                <a:solidFill>
                  <a:schemeClr val="dk1"/>
                </a:solidFill>
                <a:highlight>
                  <a:srgbClr val="FFFFFF"/>
                </a:highlight>
              </a:rPr>
              <a:t>. </a:t>
            </a:r>
            <a:endParaRPr sz="1650">
              <a:solidFill>
                <a:schemeClr val="dk1"/>
              </a:solidFill>
              <a:highlight>
                <a:srgbClr val="FFFFFF"/>
              </a:highlight>
            </a:endParaRPr>
          </a:p>
          <a:p>
            <a:pPr indent="0" lvl="0" marL="0" rtl="0" algn="l">
              <a:spcBef>
                <a:spcPts val="25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Stemming and Lemmatization</a:t>
            </a:r>
            <a:endParaRPr/>
          </a:p>
        </p:txBody>
      </p:sp>
      <p:pic>
        <p:nvPicPr>
          <p:cNvPr id="101" name="Google Shape;101;p20"/>
          <p:cNvPicPr preferRelativeResize="0"/>
          <p:nvPr/>
        </p:nvPicPr>
        <p:blipFill>
          <a:blip r:embed="rId3">
            <a:alphaModFix/>
          </a:blip>
          <a:stretch>
            <a:fillRect/>
          </a:stretch>
        </p:blipFill>
        <p:spPr>
          <a:xfrm>
            <a:off x="152400" y="1170125"/>
            <a:ext cx="8839202" cy="270328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solidFill>
                  <a:schemeClr val="hlink"/>
                </a:solidFill>
                <a:hlinkClick action="ppaction://hlinksldjump" r:id="rId3"/>
              </a:rPr>
              <a:t>POS Tagging</a:t>
            </a:r>
            <a:endParaRPr/>
          </a:p>
        </p:txBody>
      </p:sp>
      <p:sp>
        <p:nvSpPr>
          <p:cNvPr id="107" name="Google Shape;107;p21"/>
          <p:cNvSpPr txBox="1"/>
          <p:nvPr>
            <p:ph idx="1" type="body"/>
          </p:nvPr>
        </p:nvSpPr>
        <p:spPr>
          <a:xfrm>
            <a:off x="0" y="664200"/>
            <a:ext cx="8694000" cy="35619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POS tagging is the process of marking up a word in a text (corpus) as corresponding to a particular part of speech, b</a:t>
            </a:r>
            <a:r>
              <a:rPr lang="en" sz="1550"/>
              <a:t>ased on both its definition and its context—i.e., its relationship with adjacent and related words in a phrase, sentence, or paragraph. </a:t>
            </a:r>
            <a:r>
              <a:rPr lang="en" sz="1550">
                <a:solidFill>
                  <a:srgbClr val="445578"/>
                </a:solidFill>
                <a:highlight>
                  <a:srgbClr val="FFFFFF"/>
                </a:highlight>
              </a:rPr>
              <a:t>Some common POS tagging schemes include the </a:t>
            </a:r>
            <a:r>
              <a:rPr lang="en" sz="1550">
                <a:solidFill>
                  <a:srgbClr val="1048C3"/>
                </a:solidFill>
                <a:highlight>
                  <a:srgbClr val="FFFFFF"/>
                </a:highlight>
                <a:uFill>
                  <a:noFill/>
                </a:uFill>
                <a:hlinkClick r:id="rId4">
                  <a:extLst>
                    <a:ext uri="{A12FA001-AC4F-418D-AE19-62706E023703}">
                      <ahyp:hlinkClr val="tx"/>
                    </a:ext>
                  </a:extLst>
                </a:hlinkClick>
              </a:rPr>
              <a:t>Penn Treebank tagset</a:t>
            </a:r>
            <a:r>
              <a:rPr lang="en" sz="1550">
                <a:solidFill>
                  <a:srgbClr val="445578"/>
                </a:solidFill>
                <a:highlight>
                  <a:srgbClr val="FFFFFF"/>
                </a:highlight>
              </a:rPr>
              <a:t> and the </a:t>
            </a:r>
            <a:r>
              <a:rPr lang="en" sz="1550">
                <a:solidFill>
                  <a:srgbClr val="1048C3"/>
                </a:solidFill>
                <a:highlight>
                  <a:srgbClr val="FFFFFF"/>
                </a:highlight>
                <a:uFill>
                  <a:noFill/>
                </a:uFill>
                <a:hlinkClick r:id="rId5">
                  <a:extLst>
                    <a:ext uri="{A12FA001-AC4F-418D-AE19-62706E023703}">
                      <ahyp:hlinkClr val="tx"/>
                    </a:ext>
                  </a:extLst>
                </a:hlinkClick>
              </a:rPr>
              <a:t>Universal Dependencies tagset</a:t>
            </a:r>
            <a:r>
              <a:rPr lang="en" sz="1550">
                <a:solidFill>
                  <a:srgbClr val="445578"/>
                </a:solidFill>
                <a:highlight>
                  <a:srgbClr val="FFFFFF"/>
                </a:highlight>
              </a:rPr>
              <a:t>.</a:t>
            </a:r>
            <a:endParaRPr sz="1550"/>
          </a:p>
          <a:p>
            <a:pPr indent="0" lvl="0" marL="0" rtl="0" algn="l">
              <a:lnSpc>
                <a:spcPct val="160000"/>
              </a:lnSpc>
              <a:spcBef>
                <a:spcPts val="1200"/>
              </a:spcBef>
              <a:spcAft>
                <a:spcPts val="0"/>
              </a:spcAft>
              <a:buClr>
                <a:schemeClr val="dk1"/>
              </a:buClr>
              <a:buSzPct val="70968"/>
              <a:buFont typeface="Arial"/>
              <a:buNone/>
            </a:pPr>
            <a:r>
              <a:rPr lang="en" sz="1550">
                <a:solidFill>
                  <a:srgbClr val="445578"/>
                </a:solidFill>
                <a:highlight>
                  <a:srgbClr val="FFFFFF"/>
                </a:highlight>
              </a:rPr>
              <a:t>Text: “The cat sat on the mat.”</a:t>
            </a:r>
            <a:endParaRPr sz="1550">
              <a:solidFill>
                <a:srgbClr val="445578"/>
              </a:solidFill>
              <a:highlight>
                <a:srgbClr val="FFFFFF"/>
              </a:highlight>
            </a:endParaRPr>
          </a:p>
          <a:p>
            <a:pPr indent="0" lvl="0" marL="0" rtl="0" algn="l">
              <a:lnSpc>
                <a:spcPct val="160000"/>
              </a:lnSpc>
              <a:spcBef>
                <a:spcPts val="800"/>
              </a:spcBef>
              <a:spcAft>
                <a:spcPts val="0"/>
              </a:spcAft>
              <a:buClr>
                <a:schemeClr val="dk1"/>
              </a:buClr>
              <a:buSzPct val="65328"/>
              <a:buFont typeface="Arial"/>
              <a:buNone/>
            </a:pPr>
            <a:r>
              <a:rPr lang="en" sz="1684">
                <a:solidFill>
                  <a:srgbClr val="445578"/>
                </a:solidFill>
                <a:highlight>
                  <a:srgbClr val="FFFFFF"/>
                </a:highlight>
              </a:rPr>
              <a:t>POS tags:</a:t>
            </a:r>
            <a:endParaRPr sz="1684">
              <a:solidFill>
                <a:srgbClr val="445578"/>
              </a:solidFill>
              <a:highlight>
                <a:srgbClr val="FFFFFF"/>
              </a:highlight>
            </a:endParaRPr>
          </a:p>
          <a:p>
            <a:pPr indent="-303446" lvl="0" marL="635000" rtl="0" algn="l">
              <a:lnSpc>
                <a:spcPct val="160000"/>
              </a:lnSpc>
              <a:spcBef>
                <a:spcPts val="800"/>
              </a:spcBef>
              <a:spcAft>
                <a:spcPts val="0"/>
              </a:spcAft>
              <a:buClr>
                <a:srgbClr val="445578"/>
              </a:buClr>
              <a:buSzPct val="100000"/>
              <a:buChar char="●"/>
            </a:pPr>
            <a:r>
              <a:rPr lang="en" sz="1684">
                <a:solidFill>
                  <a:srgbClr val="445578"/>
                </a:solidFill>
                <a:highlight>
                  <a:srgbClr val="FFFFFF"/>
                </a:highlight>
              </a:rPr>
              <a:t>The: determiner</a:t>
            </a:r>
            <a:endParaRPr sz="1684">
              <a:solidFill>
                <a:srgbClr val="445578"/>
              </a:solidFill>
              <a:highlight>
                <a:srgbClr val="FFFFFF"/>
              </a:highlight>
            </a:endParaRPr>
          </a:p>
          <a:p>
            <a:pPr indent="-303446" lvl="0" marL="635000" rtl="0" algn="l">
              <a:lnSpc>
                <a:spcPct val="160000"/>
              </a:lnSpc>
              <a:spcBef>
                <a:spcPts val="0"/>
              </a:spcBef>
              <a:spcAft>
                <a:spcPts val="0"/>
              </a:spcAft>
              <a:buClr>
                <a:srgbClr val="445578"/>
              </a:buClr>
              <a:buSzPct val="100000"/>
              <a:buChar char="●"/>
            </a:pPr>
            <a:r>
              <a:rPr lang="en" sz="1684">
                <a:solidFill>
                  <a:srgbClr val="445578"/>
                </a:solidFill>
                <a:highlight>
                  <a:srgbClr val="FFFFFF"/>
                </a:highlight>
              </a:rPr>
              <a:t>cat: noun</a:t>
            </a:r>
            <a:endParaRPr sz="1684">
              <a:solidFill>
                <a:srgbClr val="445578"/>
              </a:solidFill>
              <a:highlight>
                <a:srgbClr val="FFFFFF"/>
              </a:highlight>
            </a:endParaRPr>
          </a:p>
          <a:p>
            <a:pPr indent="-303446" lvl="0" marL="635000" rtl="0" algn="l">
              <a:lnSpc>
                <a:spcPct val="160000"/>
              </a:lnSpc>
              <a:spcBef>
                <a:spcPts val="0"/>
              </a:spcBef>
              <a:spcAft>
                <a:spcPts val="0"/>
              </a:spcAft>
              <a:buClr>
                <a:srgbClr val="445578"/>
              </a:buClr>
              <a:buSzPct val="100000"/>
              <a:buChar char="●"/>
            </a:pPr>
            <a:r>
              <a:rPr lang="en" sz="1684">
                <a:solidFill>
                  <a:srgbClr val="445578"/>
                </a:solidFill>
                <a:highlight>
                  <a:srgbClr val="FFFFFF"/>
                </a:highlight>
              </a:rPr>
              <a:t>sat: verb</a:t>
            </a:r>
            <a:endParaRPr sz="1684">
              <a:solidFill>
                <a:srgbClr val="445578"/>
              </a:solidFill>
              <a:highlight>
                <a:srgbClr val="FFFFFF"/>
              </a:highlight>
            </a:endParaRPr>
          </a:p>
          <a:p>
            <a:pPr indent="-303446" lvl="0" marL="635000" rtl="0" algn="l">
              <a:lnSpc>
                <a:spcPct val="160000"/>
              </a:lnSpc>
              <a:spcBef>
                <a:spcPts val="0"/>
              </a:spcBef>
              <a:spcAft>
                <a:spcPts val="0"/>
              </a:spcAft>
              <a:buClr>
                <a:srgbClr val="445578"/>
              </a:buClr>
              <a:buSzPct val="100000"/>
              <a:buChar char="●"/>
            </a:pPr>
            <a:r>
              <a:rPr lang="en" sz="1684">
                <a:solidFill>
                  <a:srgbClr val="445578"/>
                </a:solidFill>
                <a:highlight>
                  <a:srgbClr val="FFFFFF"/>
                </a:highlight>
              </a:rPr>
              <a:t>on: preposition</a:t>
            </a:r>
            <a:endParaRPr sz="1684">
              <a:solidFill>
                <a:srgbClr val="445578"/>
              </a:solidFill>
              <a:highlight>
                <a:srgbClr val="FFFFFF"/>
              </a:highlight>
            </a:endParaRPr>
          </a:p>
          <a:p>
            <a:pPr indent="-303446" lvl="0" marL="635000" rtl="0" algn="l">
              <a:lnSpc>
                <a:spcPct val="160000"/>
              </a:lnSpc>
              <a:spcBef>
                <a:spcPts val="0"/>
              </a:spcBef>
              <a:spcAft>
                <a:spcPts val="0"/>
              </a:spcAft>
              <a:buClr>
                <a:srgbClr val="445578"/>
              </a:buClr>
              <a:buSzPct val="100000"/>
              <a:buChar char="●"/>
            </a:pPr>
            <a:r>
              <a:rPr lang="en" sz="1684">
                <a:solidFill>
                  <a:srgbClr val="445578"/>
                </a:solidFill>
                <a:highlight>
                  <a:srgbClr val="FFFFFF"/>
                </a:highlight>
              </a:rPr>
              <a:t>the: determiner</a:t>
            </a:r>
            <a:endParaRPr sz="1684">
              <a:solidFill>
                <a:srgbClr val="445578"/>
              </a:solidFill>
              <a:highlight>
                <a:srgbClr val="FFFFFF"/>
              </a:highlight>
            </a:endParaRPr>
          </a:p>
          <a:p>
            <a:pPr indent="-303446" lvl="0" marL="635000" rtl="0" algn="l">
              <a:lnSpc>
                <a:spcPct val="160000"/>
              </a:lnSpc>
              <a:spcBef>
                <a:spcPts val="0"/>
              </a:spcBef>
              <a:spcAft>
                <a:spcPts val="0"/>
              </a:spcAft>
              <a:buClr>
                <a:srgbClr val="445578"/>
              </a:buClr>
              <a:buSzPct val="100000"/>
              <a:buChar char="●"/>
            </a:pPr>
            <a:r>
              <a:rPr lang="en" sz="1684">
                <a:solidFill>
                  <a:srgbClr val="445578"/>
                </a:solidFill>
                <a:highlight>
                  <a:srgbClr val="FFFFFF"/>
                </a:highlight>
              </a:rPr>
              <a:t>mat: noun</a:t>
            </a:r>
            <a:endParaRPr sz="1684">
              <a:solidFill>
                <a:srgbClr val="445578"/>
              </a:solidFill>
              <a:highlight>
                <a:srgbClr val="FFFFFF"/>
              </a:highlight>
            </a:endParaRPr>
          </a:p>
          <a:p>
            <a:pPr indent="0" lvl="0" marL="0" rtl="0" algn="l">
              <a:lnSpc>
                <a:spcPct val="100000"/>
              </a:lnSpc>
              <a:spcBef>
                <a:spcPts val="1200"/>
              </a:spcBef>
              <a:spcAft>
                <a:spcPts val="0"/>
              </a:spcAft>
              <a:buNone/>
            </a:pPr>
            <a:r>
              <a:rPr lang="en"/>
              <a:t>POS Tagging - </a:t>
            </a:r>
            <a:r>
              <a:rPr lang="en"/>
              <a:t>https://www.guru99.com/pos-tagging-chunking-nltk.html</a:t>
            </a:r>
            <a:endParaRPr/>
          </a:p>
          <a:p>
            <a:pPr indent="0" lvl="0" marL="0" rtl="0" algn="l">
              <a:spcBef>
                <a:spcPts val="0"/>
              </a:spcBef>
              <a:spcAft>
                <a:spcPts val="1200"/>
              </a:spcAft>
              <a:buNone/>
            </a:pPr>
            <a:r>
              <a:t/>
            </a:r>
            <a:endParaRPr/>
          </a:p>
        </p:txBody>
      </p:sp>
      <p:sp>
        <p:nvSpPr>
          <p:cNvPr id="108" name="Google Shape;108;p21"/>
          <p:cNvSpPr txBox="1"/>
          <p:nvPr/>
        </p:nvSpPr>
        <p:spPr>
          <a:xfrm>
            <a:off x="303150" y="4030325"/>
            <a:ext cx="7553700" cy="44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idx="1" type="body"/>
          </p:nvPr>
        </p:nvSpPr>
        <p:spPr>
          <a:xfrm>
            <a:off x="137775" y="159025"/>
            <a:ext cx="8520600" cy="4012200"/>
          </a:xfrm>
          <a:prstGeom prst="rect">
            <a:avLst/>
          </a:prstGeom>
        </p:spPr>
        <p:txBody>
          <a:bodyPr anchorCtr="0" anchor="t" bIns="91425" lIns="91425" spcFirstLastPara="1" rIns="91425" wrap="square" tIns="91425">
            <a:normAutofit/>
          </a:bodyPr>
          <a:lstStyle/>
          <a:p>
            <a:pPr indent="0" lvl="0" marL="0" rtl="0" algn="l">
              <a:lnSpc>
                <a:spcPct val="104166"/>
              </a:lnSpc>
              <a:spcBef>
                <a:spcPts val="0"/>
              </a:spcBef>
              <a:spcAft>
                <a:spcPts val="0"/>
              </a:spcAft>
              <a:buClr>
                <a:schemeClr val="dk1"/>
              </a:buClr>
              <a:buSzPts val="1100"/>
              <a:buFont typeface="Arial"/>
              <a:buNone/>
            </a:pPr>
            <a:r>
              <a:rPr b="1" lang="en">
                <a:solidFill>
                  <a:srgbClr val="222222"/>
                </a:solidFill>
                <a:highlight>
                  <a:srgbClr val="FFFFFF"/>
                </a:highlight>
              </a:rPr>
              <a:t>Steps Involved in the POS tagging example</a:t>
            </a:r>
            <a:endParaRPr b="1">
              <a:solidFill>
                <a:srgbClr val="222222"/>
              </a:solidFill>
              <a:highlight>
                <a:srgbClr val="FFFFFF"/>
              </a:highlight>
            </a:endParaRPr>
          </a:p>
          <a:p>
            <a:pPr indent="-323850" lvl="0" marL="457200" rtl="0" algn="l">
              <a:spcBef>
                <a:spcPts val="700"/>
              </a:spcBef>
              <a:spcAft>
                <a:spcPts val="0"/>
              </a:spcAft>
              <a:buClr>
                <a:srgbClr val="222222"/>
              </a:buClr>
              <a:buSzPts val="1500"/>
              <a:buChar char="●"/>
            </a:pPr>
            <a:r>
              <a:rPr lang="en" sz="1500">
                <a:solidFill>
                  <a:srgbClr val="222222"/>
                </a:solidFill>
                <a:highlight>
                  <a:srgbClr val="FFFFFF"/>
                </a:highlight>
              </a:rPr>
              <a:t>Tokenize text (word_tokenize)</a:t>
            </a:r>
            <a:endParaRPr sz="1500">
              <a:solidFill>
                <a:srgbClr val="222222"/>
              </a:solidFill>
              <a:highlight>
                <a:srgbClr val="FFFFFF"/>
              </a:highlight>
            </a:endParaRPr>
          </a:p>
          <a:p>
            <a:pPr indent="-323850" lvl="0" marL="457200" rtl="0" algn="l">
              <a:spcBef>
                <a:spcPts val="0"/>
              </a:spcBef>
              <a:spcAft>
                <a:spcPts val="0"/>
              </a:spcAft>
              <a:buClr>
                <a:srgbClr val="222222"/>
              </a:buClr>
              <a:buSzPts val="1500"/>
              <a:buChar char="●"/>
            </a:pPr>
            <a:r>
              <a:rPr lang="en" sz="1500">
                <a:solidFill>
                  <a:srgbClr val="222222"/>
                </a:solidFill>
                <a:highlight>
                  <a:srgbClr val="FFFFFF"/>
                </a:highlight>
              </a:rPr>
              <a:t>apply pos_tag to above step that is nltk.pos_tag(tokenize_text)</a:t>
            </a:r>
            <a:endParaRPr sz="1500">
              <a:solidFill>
                <a:srgbClr val="222222"/>
              </a:solidFill>
              <a:highlight>
                <a:srgbClr val="FFFFFF"/>
              </a:highlight>
            </a:endParaRPr>
          </a:p>
          <a:p>
            <a:pPr indent="0" lvl="0" marL="0" rtl="0" algn="l">
              <a:spcBef>
                <a:spcPts val="0"/>
              </a:spcBef>
              <a:spcAft>
                <a:spcPts val="0"/>
              </a:spcAft>
              <a:buNone/>
            </a:pPr>
            <a:r>
              <a:t/>
            </a:r>
            <a:endParaRPr sz="1500">
              <a:solidFill>
                <a:srgbClr val="222222"/>
              </a:solidFill>
              <a:highlight>
                <a:srgbClr val="FFFFFF"/>
              </a:highlight>
            </a:endParaRPr>
          </a:p>
          <a:p>
            <a:pPr indent="0" lvl="0" marL="0" rtl="0" algn="l">
              <a:spcBef>
                <a:spcPts val="1200"/>
              </a:spcBef>
              <a:spcAft>
                <a:spcPts val="0"/>
              </a:spcAft>
              <a:buClr>
                <a:schemeClr val="dk1"/>
              </a:buClr>
              <a:buSzPts val="1100"/>
              <a:buFont typeface="Arial"/>
              <a:buNone/>
            </a:pPr>
            <a:r>
              <a:rPr b="1" lang="en" sz="1100">
                <a:solidFill>
                  <a:schemeClr val="dk1"/>
                </a:solidFill>
              </a:rPr>
              <a:t>Significance of POS Tagging:</a:t>
            </a:r>
            <a:endParaRPr b="1" sz="1100">
              <a:solidFill>
                <a:schemeClr val="dk1"/>
              </a:solidFill>
            </a:endParaRPr>
          </a:p>
          <a:p>
            <a:pPr indent="-298450" lvl="0" marL="457200" rtl="0" algn="l">
              <a:spcBef>
                <a:spcPts val="1200"/>
              </a:spcBef>
              <a:spcAft>
                <a:spcPts val="0"/>
              </a:spcAft>
              <a:buClr>
                <a:schemeClr val="dk1"/>
              </a:buClr>
              <a:buSzPts val="1100"/>
              <a:buAutoNum type="arabicPeriod"/>
            </a:pPr>
            <a:r>
              <a:rPr b="1" lang="en" sz="1100">
                <a:solidFill>
                  <a:schemeClr val="dk1"/>
                </a:solidFill>
              </a:rPr>
              <a:t>Syntax Parsing:</a:t>
            </a:r>
            <a:r>
              <a:rPr lang="en" sz="1100">
                <a:solidFill>
                  <a:schemeClr val="dk1"/>
                </a:solidFill>
              </a:rPr>
              <a:t> POS tags are essential for syntactic parsing, which is crucial for understanding the structure of a sentence.</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Information Retrieval:</a:t>
            </a:r>
            <a:r>
              <a:rPr lang="en" sz="1100">
                <a:solidFill>
                  <a:schemeClr val="dk1"/>
                </a:solidFill>
              </a:rPr>
              <a:t> Helps in the retrieval of relevant information by understanding the context of words.</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Word Sense Disambiguation:</a:t>
            </a:r>
            <a:r>
              <a:rPr lang="en" sz="1100">
                <a:solidFill>
                  <a:schemeClr val="dk1"/>
                </a:solidFill>
              </a:rPr>
              <a:t> Assists in identifying the correct meaning of a word based on its use in a sentence.</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Named Entity Recognition (NER):</a:t>
            </a:r>
            <a:r>
              <a:rPr lang="en" sz="1100">
                <a:solidFill>
                  <a:schemeClr val="dk1"/>
                </a:solidFill>
              </a:rPr>
              <a:t> Aids in recognizing proper nouns and other named entities in text.</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Text-to-Speech Systems:</a:t>
            </a:r>
            <a:r>
              <a:rPr lang="en" sz="1100">
                <a:solidFill>
                  <a:schemeClr val="dk1"/>
                </a:solidFill>
              </a:rPr>
              <a:t> Improves the pronunciation and intonation in text-to-speech applications.</a:t>
            </a:r>
            <a:endParaRPr sz="1100">
              <a:solidFill>
                <a:schemeClr val="dk1"/>
              </a:solidFill>
            </a:endParaRPr>
          </a:p>
          <a:p>
            <a:pPr indent="0" lvl="0" marL="0" rtl="0" algn="l">
              <a:spcBef>
                <a:spcPts val="1200"/>
              </a:spcBef>
              <a:spcAft>
                <a:spcPts val="0"/>
              </a:spcAft>
              <a:buNone/>
            </a:pPr>
            <a:r>
              <a:t/>
            </a:r>
            <a:endParaRPr sz="1500">
              <a:solidFill>
                <a:srgbClr val="222222"/>
              </a:solidFill>
              <a:highlight>
                <a:srgbClr val="FFFFFF"/>
              </a:highlight>
            </a:endParaRPr>
          </a:p>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Chunking</a:t>
            </a:r>
            <a:endParaRPr/>
          </a:p>
        </p:txBody>
      </p:sp>
      <p:sp>
        <p:nvSpPr>
          <p:cNvPr id="119" name="Google Shape;119;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 sz="1350">
                <a:solidFill>
                  <a:srgbClr val="374151"/>
                </a:solidFill>
                <a:highlight>
                  <a:srgbClr val="FFFFFF"/>
                </a:highlight>
              </a:rPr>
              <a:t>Chunking</a:t>
            </a:r>
            <a:r>
              <a:rPr lang="en" sz="1350">
                <a:solidFill>
                  <a:srgbClr val="374151"/>
                </a:solidFill>
                <a:highlight>
                  <a:srgbClr val="FFFFFF"/>
                </a:highlight>
              </a:rPr>
              <a:t> is the process of dividing words into chunks depending on their syntactic form. It recognizes and extracts specified patterns or phrases from a sentence or text document.</a:t>
            </a:r>
            <a:endParaRPr sz="1350">
              <a:solidFill>
                <a:srgbClr val="374151"/>
              </a:solidFill>
              <a:highlight>
                <a:srgbClr val="FFFFFF"/>
              </a:highlight>
            </a:endParaRPr>
          </a:p>
          <a:p>
            <a:pPr indent="0" lvl="0" marL="0" rtl="0" algn="l">
              <a:spcBef>
                <a:spcPts val="1400"/>
              </a:spcBef>
              <a:spcAft>
                <a:spcPts val="0"/>
              </a:spcAft>
              <a:buClr>
                <a:schemeClr val="dk1"/>
              </a:buClr>
              <a:buSzPts val="1100"/>
              <a:buFont typeface="Arial"/>
              <a:buNone/>
            </a:pPr>
            <a:r>
              <a:rPr lang="en" sz="1350">
                <a:solidFill>
                  <a:srgbClr val="374151"/>
                </a:solidFill>
                <a:highlight>
                  <a:srgbClr val="FFFFFF"/>
                </a:highlight>
              </a:rPr>
              <a:t>NLTK supports flexible chunking, allowing users to construct patterns using regular expressions or preset grammar, such as noun phrase chunking and verb phrase chunking.</a:t>
            </a:r>
            <a:endParaRPr sz="1350">
              <a:solidFill>
                <a:srgbClr val="374151"/>
              </a:solidFill>
              <a:highlight>
                <a:srgbClr val="FFFFFF"/>
              </a:highlight>
            </a:endParaRPr>
          </a:p>
          <a:p>
            <a:pPr indent="-314325" lvl="0" marL="457200" rtl="0" algn="l">
              <a:spcBef>
                <a:spcPts val="1400"/>
              </a:spcBef>
              <a:spcAft>
                <a:spcPts val="0"/>
              </a:spcAft>
              <a:buClr>
                <a:srgbClr val="374151"/>
              </a:buClr>
              <a:buSzPts val="1350"/>
              <a:buChar char="●"/>
            </a:pPr>
            <a:r>
              <a:rPr lang="en" sz="1350">
                <a:solidFill>
                  <a:srgbClr val="374151"/>
                </a:solidFill>
                <a:highlight>
                  <a:srgbClr val="FFFFFF"/>
                </a:highlight>
              </a:rPr>
              <a:t>Noun phrase is built around a noun e.g., “A new laptop”.</a:t>
            </a:r>
            <a:endParaRPr sz="1350">
              <a:solidFill>
                <a:srgbClr val="374151"/>
              </a:solidFill>
              <a:highlight>
                <a:srgbClr val="FFFFFF"/>
              </a:highlight>
            </a:endParaRPr>
          </a:p>
          <a:p>
            <a:pPr indent="-314325" lvl="0" marL="457200" rtl="0" algn="l">
              <a:spcBef>
                <a:spcPts val="0"/>
              </a:spcBef>
              <a:spcAft>
                <a:spcPts val="0"/>
              </a:spcAft>
              <a:buClr>
                <a:srgbClr val="374151"/>
              </a:buClr>
              <a:buSzPts val="1350"/>
              <a:buChar char="●"/>
            </a:pPr>
            <a:r>
              <a:rPr lang="en" sz="1350">
                <a:solidFill>
                  <a:srgbClr val="374151"/>
                </a:solidFill>
                <a:highlight>
                  <a:srgbClr val="FFFFFF"/>
                </a:highlight>
              </a:rPr>
              <a:t>Verb phrase is built around a verb e.g., “Bought a new laptop”.</a:t>
            </a:r>
            <a:endParaRPr sz="1350">
              <a:solidFill>
                <a:srgbClr val="374151"/>
              </a:solidFill>
              <a:highlight>
                <a:srgbClr val="FFFFFF"/>
              </a:highlight>
            </a:endParaRPr>
          </a:p>
          <a:p>
            <a:pPr indent="0" lvl="0" marL="0" rtl="0" algn="l">
              <a:spcBef>
                <a:spcPts val="1400"/>
              </a:spcBef>
              <a:spcAft>
                <a:spcPts val="0"/>
              </a:spcAft>
              <a:buClr>
                <a:schemeClr val="dk1"/>
              </a:buClr>
              <a:buSzPts val="1100"/>
              <a:buFont typeface="Arial"/>
              <a:buNone/>
            </a:pPr>
            <a:r>
              <a:rPr lang="en" sz="1350">
                <a:solidFill>
                  <a:srgbClr val="374151"/>
                </a:solidFill>
                <a:highlight>
                  <a:srgbClr val="FFFFFF"/>
                </a:highlight>
              </a:rPr>
              <a:t>It uses parts-of-speech (POS) tags to group words and apply chunk tags to the group of words. Because chunks can not overlap, a single occurrence of a word can appear in only one chunk at a time.</a:t>
            </a:r>
            <a:endParaRPr sz="1350">
              <a:solidFill>
                <a:srgbClr val="374151"/>
              </a:solidFill>
              <a:highlight>
                <a:srgbClr val="FFFFFF"/>
              </a:highlight>
            </a:endParaRPr>
          </a:p>
          <a:p>
            <a:pPr indent="0" lvl="0" marL="0" rtl="0" algn="l">
              <a:spcBef>
                <a:spcPts val="14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Chunking Patterns</a:t>
            </a:r>
            <a:endParaRPr/>
          </a:p>
        </p:txBody>
      </p:sp>
      <p:sp>
        <p:nvSpPr>
          <p:cNvPr id="125" name="Google Shape;125;p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70000"/>
              </a:lnSpc>
              <a:spcBef>
                <a:spcPts val="1400"/>
              </a:spcBef>
              <a:spcAft>
                <a:spcPts val="0"/>
              </a:spcAft>
              <a:buClr>
                <a:schemeClr val="dk1"/>
              </a:buClr>
              <a:buSzPts val="1100"/>
              <a:buFont typeface="Arial"/>
              <a:buNone/>
            </a:pPr>
            <a:r>
              <a:rPr lang="en" sz="1100">
                <a:solidFill>
                  <a:schemeClr val="dk1"/>
                </a:solidFill>
                <a:highlight>
                  <a:srgbClr val="FFFFFF"/>
                </a:highlight>
              </a:rPr>
              <a:t>We will be using these chunking patterns in our coding example.</a:t>
            </a:r>
            <a:endParaRPr sz="1100">
              <a:solidFill>
                <a:schemeClr val="dk1"/>
              </a:solidFill>
              <a:highlight>
                <a:srgbClr val="FFFFFF"/>
              </a:highlight>
            </a:endParaRPr>
          </a:p>
          <a:p>
            <a:pPr indent="0" lvl="0" marL="0" rtl="0" algn="l">
              <a:lnSpc>
                <a:spcPct val="135714"/>
              </a:lnSpc>
              <a:spcBef>
                <a:spcPts val="1400"/>
              </a:spcBef>
              <a:spcAft>
                <a:spcPts val="0"/>
              </a:spcAft>
              <a:buClr>
                <a:schemeClr val="dk1"/>
              </a:buClr>
              <a:buSzPts val="1100"/>
              <a:buFont typeface="Arial"/>
              <a:buNone/>
            </a:pPr>
            <a:r>
              <a:rPr lang="en" sz="1100">
                <a:solidFill>
                  <a:srgbClr val="D4D4D4"/>
                </a:solidFill>
                <a:highlight>
                  <a:srgbClr val="282830"/>
                </a:highlight>
                <a:latin typeface="Courier New"/>
                <a:ea typeface="Courier New"/>
                <a:cs typeface="Courier New"/>
                <a:sym typeface="Courier New"/>
              </a:rPr>
              <a:t>chunk_patterns = r</a:t>
            </a:r>
            <a:r>
              <a:rPr lang="en" sz="1100">
                <a:solidFill>
                  <a:srgbClr val="CE9178"/>
                </a:solidFill>
                <a:highlight>
                  <a:srgbClr val="282830"/>
                </a:highlight>
                <a:latin typeface="Courier New"/>
                <a:ea typeface="Courier New"/>
                <a:cs typeface="Courier New"/>
                <a:sym typeface="Courier New"/>
              </a:rPr>
              <a:t>"""</a:t>
            </a:r>
            <a:endParaRPr sz="1100">
              <a:solidFill>
                <a:srgbClr val="CE9178"/>
              </a:solidFill>
              <a:highlight>
                <a:srgbClr val="282830"/>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100">
                <a:solidFill>
                  <a:srgbClr val="CE9178"/>
                </a:solidFill>
                <a:highlight>
                  <a:srgbClr val="282830"/>
                </a:highlight>
                <a:latin typeface="Courier New"/>
                <a:ea typeface="Courier New"/>
                <a:cs typeface="Courier New"/>
                <a:sym typeface="Courier New"/>
              </a:rPr>
              <a:t>    NP: {&lt;DT&gt;?&lt;JJ&gt;*&lt;NN&gt;}</a:t>
            </a:r>
            <a:endParaRPr sz="1100">
              <a:solidFill>
                <a:srgbClr val="CE9178"/>
              </a:solidFill>
              <a:highlight>
                <a:srgbClr val="282830"/>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100">
                <a:solidFill>
                  <a:srgbClr val="CE9178"/>
                </a:solidFill>
                <a:highlight>
                  <a:srgbClr val="282830"/>
                </a:highlight>
                <a:latin typeface="Courier New"/>
                <a:ea typeface="Courier New"/>
                <a:cs typeface="Courier New"/>
                <a:sym typeface="Courier New"/>
              </a:rPr>
              <a:t>    VP: {&lt;VB.*&gt;&lt;NP|PP&gt;} </a:t>
            </a:r>
            <a:endParaRPr sz="1100">
              <a:solidFill>
                <a:srgbClr val="CE9178"/>
              </a:solidFill>
              <a:highlight>
                <a:srgbClr val="282830"/>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100">
                <a:solidFill>
                  <a:srgbClr val="CE9178"/>
                </a:solidFill>
                <a:highlight>
                  <a:srgbClr val="282830"/>
                </a:highlight>
                <a:latin typeface="Courier New"/>
                <a:ea typeface="Courier New"/>
                <a:cs typeface="Courier New"/>
                <a:sym typeface="Courier New"/>
              </a:rPr>
              <a:t>"""</a:t>
            </a:r>
            <a:endParaRPr sz="1100">
              <a:solidFill>
                <a:srgbClr val="CE9178"/>
              </a:solidFill>
              <a:highlight>
                <a:srgbClr val="282830"/>
              </a:highlight>
              <a:latin typeface="Courier New"/>
              <a:ea typeface="Courier New"/>
              <a:cs typeface="Courier New"/>
              <a:sym typeface="Courier New"/>
            </a:endParaRPr>
          </a:p>
          <a:p>
            <a:pPr indent="0" lvl="0" marL="0" rtl="0" algn="l">
              <a:spcBef>
                <a:spcPts val="0"/>
              </a:spcBef>
              <a:spcAft>
                <a:spcPts val="0"/>
              </a:spcAft>
              <a:buNone/>
            </a:pPr>
            <a:r>
              <a:t/>
            </a:r>
            <a:endParaRPr sz="1100">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rPr lang="en" sz="1100">
                <a:solidFill>
                  <a:schemeClr val="dk1"/>
                </a:solidFill>
                <a:highlight>
                  <a:srgbClr val="FFFFFF"/>
                </a:highlight>
              </a:rPr>
              <a:t>Chunking patterns used for noun and verb phrases</a:t>
            </a:r>
            <a:endParaRPr sz="1100">
              <a:solidFill>
                <a:schemeClr val="dk1"/>
              </a:solidFill>
              <a:highlight>
                <a:srgbClr val="FFFFFF"/>
              </a:highlight>
            </a:endParaRPr>
          </a:p>
          <a:p>
            <a:pPr indent="-298450" lvl="0" marL="457200" rtl="0" algn="l">
              <a:spcBef>
                <a:spcPts val="0"/>
              </a:spcBef>
              <a:spcAft>
                <a:spcPts val="0"/>
              </a:spcAft>
              <a:buClr>
                <a:schemeClr val="dk1"/>
              </a:buClr>
              <a:buSzPts val="1100"/>
              <a:buChar char="●"/>
            </a:pPr>
            <a:r>
              <a:rPr lang="en" sz="1100">
                <a:solidFill>
                  <a:schemeClr val="dk1"/>
                </a:solidFill>
                <a:highlight>
                  <a:srgbClr val="FFFFFF"/>
                </a:highlight>
              </a:rPr>
              <a:t>NP represents the noun phrase chunk pattern. It uses an optional determiner (</a:t>
            </a:r>
            <a:r>
              <a:rPr lang="en" sz="1100">
                <a:solidFill>
                  <a:srgbClr val="C7254E"/>
                </a:solidFill>
                <a:highlight>
                  <a:srgbClr val="F9F2F4"/>
                </a:highlight>
                <a:latin typeface="Courier New"/>
                <a:ea typeface="Courier New"/>
                <a:cs typeface="Courier New"/>
                <a:sym typeface="Courier New"/>
              </a:rPr>
              <a:t>DT</a:t>
            </a:r>
            <a:r>
              <a:rPr lang="en" sz="1100">
                <a:solidFill>
                  <a:schemeClr val="dk1"/>
                </a:solidFill>
                <a:highlight>
                  <a:srgbClr val="FFFFFF"/>
                </a:highlight>
              </a:rPr>
              <a:t>), followed by zero or more adjectives (</a:t>
            </a:r>
            <a:r>
              <a:rPr lang="en" sz="1100">
                <a:solidFill>
                  <a:srgbClr val="C7254E"/>
                </a:solidFill>
                <a:highlight>
                  <a:srgbClr val="F9F2F4"/>
                </a:highlight>
                <a:latin typeface="Courier New"/>
                <a:ea typeface="Courier New"/>
                <a:cs typeface="Courier New"/>
                <a:sym typeface="Courier New"/>
              </a:rPr>
              <a:t>JJ</a:t>
            </a:r>
            <a:r>
              <a:rPr lang="en" sz="1100">
                <a:solidFill>
                  <a:schemeClr val="dk1"/>
                </a:solidFill>
                <a:highlight>
                  <a:srgbClr val="FFFFFF"/>
                </a:highlight>
              </a:rPr>
              <a:t>), and a noun (</a:t>
            </a:r>
            <a:r>
              <a:rPr lang="en" sz="1100">
                <a:solidFill>
                  <a:srgbClr val="C7254E"/>
                </a:solidFill>
                <a:highlight>
                  <a:srgbClr val="F9F2F4"/>
                </a:highlight>
                <a:latin typeface="Courier New"/>
                <a:ea typeface="Courier New"/>
                <a:cs typeface="Courier New"/>
                <a:sym typeface="Courier New"/>
              </a:rPr>
              <a:t>NN</a:t>
            </a:r>
            <a:r>
              <a:rPr lang="en" sz="1100">
                <a:solidFill>
                  <a:schemeClr val="dk1"/>
                </a:solidFill>
                <a:highlight>
                  <a:srgbClr val="FFFFFF"/>
                </a:highlight>
              </a:rPr>
              <a:t>).</a:t>
            </a:r>
            <a:endParaRPr sz="1100">
              <a:solidFill>
                <a:schemeClr val="dk1"/>
              </a:solidFill>
              <a:highlight>
                <a:srgbClr val="FFFFFF"/>
              </a:highlight>
            </a:endParaRPr>
          </a:p>
          <a:p>
            <a:pPr indent="-298450" lvl="0" marL="457200" rtl="0" algn="l">
              <a:spcBef>
                <a:spcPts val="0"/>
              </a:spcBef>
              <a:spcAft>
                <a:spcPts val="0"/>
              </a:spcAft>
              <a:buClr>
                <a:schemeClr val="dk1"/>
              </a:buClr>
              <a:buSzPts val="1100"/>
              <a:buChar char="●"/>
            </a:pPr>
            <a:r>
              <a:rPr lang="en" sz="1100">
                <a:solidFill>
                  <a:schemeClr val="dk1"/>
                </a:solidFill>
                <a:highlight>
                  <a:srgbClr val="FFFFFF"/>
                </a:highlight>
              </a:rPr>
              <a:t>VP represents the verb phrase chunk pattern. It uses a verb (</a:t>
            </a:r>
            <a:r>
              <a:rPr lang="en" sz="1100">
                <a:solidFill>
                  <a:srgbClr val="C7254E"/>
                </a:solidFill>
                <a:highlight>
                  <a:srgbClr val="F9F2F4"/>
                </a:highlight>
                <a:latin typeface="Courier New"/>
                <a:ea typeface="Courier New"/>
                <a:cs typeface="Courier New"/>
                <a:sym typeface="Courier New"/>
              </a:rPr>
              <a:t>VB</a:t>
            </a:r>
            <a:r>
              <a:rPr lang="en" sz="1100">
                <a:solidFill>
                  <a:schemeClr val="dk1"/>
                </a:solidFill>
                <a:highlight>
                  <a:srgbClr val="FFFFFF"/>
                </a:highlight>
              </a:rPr>
              <a:t> followed by any suffix </a:t>
            </a:r>
            <a:r>
              <a:rPr lang="en" sz="1100">
                <a:solidFill>
                  <a:srgbClr val="C7254E"/>
                </a:solidFill>
                <a:highlight>
                  <a:srgbClr val="F9F2F4"/>
                </a:highlight>
                <a:latin typeface="Courier New"/>
                <a:ea typeface="Courier New"/>
                <a:cs typeface="Courier New"/>
                <a:sym typeface="Courier New"/>
              </a:rPr>
              <a:t>.*</a:t>
            </a:r>
            <a:r>
              <a:rPr lang="en" sz="1100">
                <a:solidFill>
                  <a:schemeClr val="dk1"/>
                </a:solidFill>
                <a:highlight>
                  <a:srgbClr val="FFFFFF"/>
                </a:highlight>
              </a:rPr>
              <a:t>), followed by a noun phrase (</a:t>
            </a:r>
            <a:r>
              <a:rPr lang="en" sz="1100">
                <a:solidFill>
                  <a:srgbClr val="C7254E"/>
                </a:solidFill>
                <a:highlight>
                  <a:srgbClr val="F9F2F4"/>
                </a:highlight>
                <a:latin typeface="Courier New"/>
                <a:ea typeface="Courier New"/>
                <a:cs typeface="Courier New"/>
                <a:sym typeface="Courier New"/>
              </a:rPr>
              <a:t>NP</a:t>
            </a:r>
            <a:r>
              <a:rPr lang="en" sz="1100">
                <a:solidFill>
                  <a:schemeClr val="dk1"/>
                </a:solidFill>
                <a:highlight>
                  <a:srgbClr val="FFFFFF"/>
                </a:highlight>
              </a:rPr>
              <a:t>) or a prepositional phrase (</a:t>
            </a:r>
            <a:r>
              <a:rPr lang="en" sz="1100">
                <a:solidFill>
                  <a:srgbClr val="C7254E"/>
                </a:solidFill>
                <a:highlight>
                  <a:srgbClr val="F9F2F4"/>
                </a:highlight>
                <a:latin typeface="Courier New"/>
                <a:ea typeface="Courier New"/>
                <a:cs typeface="Courier New"/>
                <a:sym typeface="Courier New"/>
              </a:rPr>
              <a:t>PP</a:t>
            </a:r>
            <a:r>
              <a:rPr lang="en" sz="1100">
                <a:solidFill>
                  <a:schemeClr val="dk1"/>
                </a:solidFill>
                <a:highlight>
                  <a:srgbClr val="FFFFFF"/>
                </a:highlight>
              </a:rPr>
              <a:t>).</a:t>
            </a:r>
            <a:endParaRPr sz="1100">
              <a:solidFill>
                <a:schemeClr val="dk1"/>
              </a:solidFill>
              <a:highlight>
                <a:srgbClr val="FFFFFF"/>
              </a:highlight>
            </a:endParaRPr>
          </a:p>
          <a:p>
            <a:pPr indent="0" lvl="0" marL="279400" marR="279400" rtl="0" algn="l">
              <a:lnSpc>
                <a:spcPct val="170000"/>
              </a:lnSpc>
              <a:spcBef>
                <a:spcPts val="3000"/>
              </a:spcBef>
              <a:spcAft>
                <a:spcPts val="0"/>
              </a:spcAft>
              <a:buClr>
                <a:schemeClr val="dk1"/>
              </a:buClr>
              <a:buSzPts val="1100"/>
              <a:buFont typeface="Arial"/>
              <a:buNone/>
            </a:pPr>
            <a:r>
              <a:rPr b="1" lang="en" sz="1100">
                <a:solidFill>
                  <a:schemeClr val="dk1"/>
                </a:solidFill>
                <a:highlight>
                  <a:srgbClr val="FFFFFF"/>
                </a:highlight>
              </a:rPr>
              <a:t>Note:</a:t>
            </a:r>
            <a:r>
              <a:rPr lang="en" sz="1100">
                <a:solidFill>
                  <a:schemeClr val="dk1"/>
                </a:solidFill>
                <a:highlight>
                  <a:srgbClr val="FFFFFF"/>
                </a:highlight>
              </a:rPr>
              <a:t> A </a:t>
            </a:r>
            <a:r>
              <a:rPr b="1" lang="en" sz="1100">
                <a:solidFill>
                  <a:schemeClr val="dk1"/>
                </a:solidFill>
                <a:highlight>
                  <a:srgbClr val="FFFFFF"/>
                </a:highlight>
              </a:rPr>
              <a:t>chunk grammar</a:t>
            </a:r>
            <a:r>
              <a:rPr lang="en" sz="1100">
                <a:solidFill>
                  <a:schemeClr val="dk1"/>
                </a:solidFill>
                <a:highlight>
                  <a:srgbClr val="FFFFFF"/>
                </a:highlight>
              </a:rPr>
              <a:t> is a combination of rules on how sentences should be chunked. It often uses </a:t>
            </a:r>
            <a:r>
              <a:rPr lang="en" sz="1100">
                <a:solidFill>
                  <a:schemeClr val="hlink"/>
                </a:solidFill>
                <a:highlight>
                  <a:srgbClr val="FFFFFF"/>
                </a:highlight>
                <a:uFill>
                  <a:noFill/>
                </a:uFill>
                <a:hlinkClick r:id="rId3"/>
              </a:rPr>
              <a:t>regular expressions</a:t>
            </a:r>
            <a:r>
              <a:rPr lang="en" sz="1100">
                <a:solidFill>
                  <a:schemeClr val="dk1"/>
                </a:solidFill>
                <a:highlight>
                  <a:srgbClr val="FFFFFF"/>
                </a:highlight>
              </a:rPr>
              <a:t>, or </a:t>
            </a:r>
            <a:r>
              <a:rPr b="1" lang="en" sz="1100">
                <a:solidFill>
                  <a:schemeClr val="dk1"/>
                </a:solidFill>
                <a:highlight>
                  <a:srgbClr val="FFFFFF"/>
                </a:highlight>
              </a:rPr>
              <a:t>regexes</a:t>
            </a:r>
            <a:r>
              <a:rPr lang="en" sz="1100">
                <a:solidFill>
                  <a:schemeClr val="dk1"/>
                </a:solidFill>
                <a:highlight>
                  <a:srgbClr val="FFFFFF"/>
                </a:highlight>
              </a:rPr>
              <a:t>.Furthermore, NLTK provides a module called </a:t>
            </a:r>
            <a:r>
              <a:rPr lang="en" sz="1100">
                <a:solidFill>
                  <a:srgbClr val="C7254E"/>
                </a:solidFill>
                <a:highlight>
                  <a:srgbClr val="F9F2F4"/>
                </a:highlight>
                <a:latin typeface="Courier New"/>
                <a:ea typeface="Courier New"/>
                <a:cs typeface="Courier New"/>
                <a:sym typeface="Courier New"/>
              </a:rPr>
              <a:t>nltk.chunk</a:t>
            </a:r>
            <a:r>
              <a:rPr lang="en" sz="1100">
                <a:solidFill>
                  <a:schemeClr val="dk1"/>
                </a:solidFill>
                <a:highlight>
                  <a:srgbClr val="FFFFFF"/>
                </a:highlight>
              </a:rPr>
              <a:t> that includes the </a:t>
            </a:r>
            <a:r>
              <a:rPr lang="en" sz="1100">
                <a:solidFill>
                  <a:srgbClr val="C7254E"/>
                </a:solidFill>
                <a:highlight>
                  <a:srgbClr val="F9F2F4"/>
                </a:highlight>
                <a:latin typeface="Courier New"/>
                <a:ea typeface="Courier New"/>
                <a:cs typeface="Courier New"/>
                <a:sym typeface="Courier New"/>
              </a:rPr>
              <a:t>RegexpParser</a:t>
            </a:r>
            <a:r>
              <a:rPr lang="en" sz="1100">
                <a:solidFill>
                  <a:schemeClr val="dk1"/>
                </a:solidFill>
                <a:highlight>
                  <a:srgbClr val="FFFFFF"/>
                </a:highlight>
              </a:rPr>
              <a:t> class, which allows to define chunk patterns using regular expressions.</a:t>
            </a:r>
            <a:endParaRPr sz="1100">
              <a:solidFill>
                <a:schemeClr val="dk1"/>
              </a:solidFill>
              <a:highlight>
                <a:srgbClr val="FFFFFF"/>
              </a:highlight>
            </a:endParaRPr>
          </a:p>
          <a:p>
            <a:pPr indent="0" lvl="0" marL="0" rtl="0" algn="l">
              <a:spcBef>
                <a:spcPts val="1600"/>
              </a:spcBef>
              <a:spcAft>
                <a:spcPts val="1200"/>
              </a:spcAft>
              <a:buNone/>
            </a:pPr>
            <a:r>
              <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